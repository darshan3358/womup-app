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FF3B98"/>
                </a:solidFill>
              </a:defRPr>
            </a:pPr>
            <a:r>
              <a:t>ACADEMIC MINI PROJECT REPORTING 2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</a:defRPr>
            </a:pPr>
            <a:r>
              <a:t>WORMUP: HYPERLOCAL QUICK COMMERCE,</a:t>
            </a:r>
            <a:br/>
            <a:r>
              <a:t>DARK STORE LOGISTICS &amp; CLOUD PRINTING</a:t>
            </a:r>
          </a:p>
          <a:p>
            <a:pPr>
              <a:spcAft>
                <a:spcPts val="3600"/>
              </a:spcAft>
              <a:defRPr sz="1600">
                <a:solidFill>
                  <a:srgbClr val="CBD5E1"/>
                </a:solidFill>
              </a:defRPr>
            </a:pPr>
            <a:r>
              <a:t>Phase 2 Detailed Design, System Architecture, Module Decomposition &amp; Data Modeling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Tech Stack: React 19 • React Native (Expo) • NestJS &amp; Express • MongoDB Atlas Cluster • Socket.IO Telemetry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303520"/>
            <a:ext cx="10362895" cy="1005840"/>
          </a:xfrm>
          <a:prstGeom prst="roundRect">
            <a:avLst/>
          </a:prstGeom>
          <a:solidFill>
            <a:srgbClr val="0F2B75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5394960"/>
            <a:ext cx="9966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Project Team: WormUp Development Team   |   Academic Session: 2026-2027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Note: Live production demo will be presented directly on screen. Slides focus on architecture, algorithms, and schemas.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338CA"/>
                </a:solidFill>
              </a:defRPr>
            </a:pPr>
            <a:r>
              <a:t>MINI PROJECT REPORTING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71B52"/>
                </a:solidFill>
              </a:defRPr>
            </a:pPr>
            <a:r>
              <a:t>Executive Summary &amp; Reporting 2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71B52"/>
                </a:solidFill>
              </a:defRPr>
            </a:pPr>
            <a:r>
              <a:t>Reporting 1 Recap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SRS Formulation — </a:t>
            </a:r>
            <a:r>
              <a:rPr>
                <a:solidFill>
                  <a:srgbClr val="64748B"/>
                </a:solidFill>
              </a:rPr>
              <a:t>Analyzed quick commerce challenges (inventory loss, pricing conflicts).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Feasibility Study — </a:t>
            </a:r>
            <a:r>
              <a:rPr>
                <a:solidFill>
                  <a:srgbClr val="64748B"/>
                </a:solidFill>
              </a:rPr>
              <a:t>Evaluated 10-minute delivery economics &amp; cloud printing demand.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Scope Definition — </a:t>
            </a:r>
            <a:r>
              <a:rPr>
                <a:solidFill>
                  <a:srgbClr val="64748B"/>
                </a:solidFill>
              </a:rPr>
              <a:t>Multi-role ecosystem (Customer, Picker, Rider, Super Admin).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Tech Stack Approval — </a:t>
            </a:r>
            <a:r>
              <a:rPr>
                <a:solidFill>
                  <a:srgbClr val="64748B"/>
                </a:solidFill>
              </a:rPr>
              <a:t>Selected NestJS, MongoDB, React, React Native Expo.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55448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338CA"/>
                </a:solidFill>
              </a:defRPr>
            </a:pPr>
            <a:r>
              <a:t>Reporting 2 Deliverables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System Architecture — </a:t>
            </a:r>
            <a:r>
              <a:rPr>
                <a:solidFill>
                  <a:srgbClr val="64748B"/>
                </a:solidFill>
              </a:rPr>
              <a:t>Multi-tier micro-modular design with WebSockets &amp; REST APIs.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5 Functional Modules — </a:t>
            </a:r>
            <a:r>
              <a:rPr>
                <a:solidFill>
                  <a:srgbClr val="64748B"/>
                </a:solidFill>
              </a:rPr>
              <a:t>Detailed workflow diagrams for each independent enterprise module.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Dynamic Area Pricing — </a:t>
            </a:r>
            <a:r>
              <a:rPr>
                <a:solidFill>
                  <a:srgbClr val="64748B"/>
                </a:solidFill>
              </a:rPr>
              <a:t>Multi-tier price override algorithm ({variantId, areaId}).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Full Data Dictionary — </a:t>
            </a:r>
            <a:r>
              <a:rPr>
                <a:solidFill>
                  <a:srgbClr val="64748B"/>
                </a:solidFill>
              </a:rPr>
              <a:t>Complete normalized schema tables with types &amp; constraints.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Live Demo Execution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Customer Web Experience — </a:t>
            </a:r>
            <a:r>
              <a:rPr>
                <a:solidFill>
                  <a:srgbClr val="64748B"/>
                </a:solidFill>
              </a:rPr>
              <a:t>Geo-detection, area prices (Tragad ₹7), cart, live tracking.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Store Picker Workflow — </a:t>
            </a:r>
            <a:r>
              <a:rPr>
                <a:solidFill>
                  <a:srgbClr val="64748B"/>
                </a:solidFill>
              </a:rPr>
              <a:t>Digital pick-lists, shelf bin scanning, shift toggle.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Rider Telemetry — </a:t>
            </a:r>
            <a:r>
              <a:rPr>
                <a:solidFill>
                  <a:srgbClr val="64748B"/>
                </a:solidFill>
              </a:rPr>
              <a:t>Real-time GPS coordinate pinging &amp; order dispatch.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Admin Dynamic Overrides — </a:t>
            </a:r>
            <a:r>
              <a:rPr>
                <a:solidFill>
                  <a:srgbClr val="64748B"/>
                </a:solidFill>
              </a:rPr>
              <a:t>Instant price updates, rider &amp; customer profile editing.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338CA"/>
                </a:solidFill>
              </a:defRPr>
            </a:pPr>
            <a:r>
              <a:t>MINI PROJECT REPORTING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71B52"/>
                </a:solidFill>
              </a:defRPr>
            </a:pPr>
            <a:r>
              <a:t>High-Level Distributed System Architecture</a:t>
            </a:r>
          </a:p>
        </p:txBody>
      </p:sp>
      <p:pic>
        <p:nvPicPr>
          <p:cNvPr id="5" name="Picture 4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443522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71B52"/>
                </a:solidFill>
              </a:defRPr>
            </a:pPr>
            <a:r>
              <a:t>Architectural Highlights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Presentation Tier — </a:t>
            </a:r>
            <a:r>
              <a:rPr>
                <a:solidFill>
                  <a:srgbClr val="64748B"/>
                </a:solidFill>
              </a:rPr>
              <a:t>Responsive React 19 PWA &amp; cross-platform React Native Expo apps.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Application Gateway — </a:t>
            </a:r>
            <a:r>
              <a:rPr>
                <a:solidFill>
                  <a:srgbClr val="64748B"/>
                </a:solidFill>
              </a:rPr>
              <a:t>NestJS controller layer with JWT guards &amp; Socket.IO real-time channels.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Dynamic Engines — </a:t>
            </a:r>
            <a:r>
              <a:rPr>
                <a:solidFill>
                  <a:srgbClr val="64748B"/>
                </a:solidFill>
              </a:rPr>
              <a:t>Specialized micro-engines for Area Pricing, Fleet Dispatch, and Print Quoting.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Data Tier — </a:t>
            </a:r>
            <a:r>
              <a:rPr>
                <a:solidFill>
                  <a:srgbClr val="64748B"/>
                </a:solidFill>
              </a:rPr>
              <a:t>MongoDB Atlas cluster with 2dsphere geospatial indices and atomic operations.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Media Cloud CDN — </a:t>
            </a:r>
            <a:r>
              <a:rPr>
                <a:solidFill>
                  <a:srgbClr val="64748B"/>
                </a:solidFill>
              </a:rPr>
              <a:t>Cloudinary integration for product images and encrypted document uploads.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338CA"/>
                </a:solidFill>
              </a:defRPr>
            </a:pPr>
            <a:r>
              <a:t>MINI PROJECT REPORTING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71B52"/>
                </a:solidFill>
              </a:defRPr>
            </a:pPr>
            <a:r>
              <a:t>Data Flow Diagram (DFD Level 1 Decomposition)</a:t>
            </a:r>
          </a:p>
        </p:txBody>
      </p:sp>
      <p:pic>
        <p:nvPicPr>
          <p:cNvPr id="5" name="Picture 4" descr="dfd_leve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442211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71B52"/>
                </a:solidFill>
              </a:defRPr>
            </a:pPr>
            <a:r>
              <a:t>DFD Level 1 Analysis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Process 1.0 (Catalog) — </a:t>
            </a:r>
            <a:r>
              <a:rPr>
                <a:solidFill>
                  <a:srgbClr val="64748B"/>
                </a:solidFill>
              </a:rPr>
              <a:t>Consumes customer geolocation; queries MongoDB area_pricing to resolve localized rates.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Process 2.0 (Orders) — </a:t>
            </a:r>
            <a:r>
              <a:rPr>
                <a:solidFill>
                  <a:srgbClr val="64748B"/>
                </a:solidFill>
              </a:rPr>
              <a:t>Validates cart, checks stock limits, redeems coins, and commits order.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Process 3.0 (Fulfillment) — </a:t>
            </a:r>
            <a:r>
              <a:rPr>
                <a:solidFill>
                  <a:srgbClr val="64748B"/>
                </a:solidFill>
              </a:rPr>
              <a:t>Routes order to nearest dark store; generates digital pick-list with bin tags.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Process 4.0 (Fleet) — </a:t>
            </a:r>
            <a:r>
              <a:rPr>
                <a:solidFill>
                  <a:srgbClr val="64748B"/>
                </a:solidFill>
              </a:rPr>
              <a:t>Pings idle riders; streams live telemetry over Socket.IO rooms.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Admin Overseer — </a:t>
            </a:r>
            <a:r>
              <a:rPr>
                <a:solidFill>
                  <a:srgbClr val="64748B"/>
                </a:solidFill>
              </a:rPr>
              <a:t>Super admin modifies pricing and monitors real-time system metrics.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338CA"/>
                </a:solidFill>
              </a:defRPr>
            </a:pPr>
            <a:r>
              <a:t>MINI PROJECT REPORTING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71B52"/>
                </a:solidFill>
              </a:defRPr>
            </a:pPr>
            <a:r>
              <a:t>Functional Module Breakdown (5 Core Subsystems)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029968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84708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71B52"/>
                </a:solidFill>
              </a:defRPr>
            </a:pPr>
            <a:r>
              <a:t>Module 1: Customer Web/App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Geofenced live catalog</a:t>
            </a:r>
            <a:br/>
            <a:r>
              <a:t>• Multi-variant area pricing</a:t>
            </a:r>
            <a:br/>
            <a:r>
              <a:t>• Cart &amp; loyalty coins redemption</a:t>
            </a:r>
            <a:br/>
            <a:r>
              <a:t>• Socket.IO live order countdown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1371600"/>
            <a:ext cx="2029968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1554480"/>
            <a:ext cx="184708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71B52"/>
                </a:solidFill>
              </a:defRPr>
            </a:pPr>
            <a:r>
              <a:t>Module 2: Dark Store Hub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Multi-store inventory sync</a:t>
            </a:r>
            <a:br/>
            <a:r>
              <a:t>• Digital pick-and-pack route</a:t>
            </a:r>
            <a:br/>
            <a:r>
              <a:t>• Shelf bin tagging (A1-R1)</a:t>
            </a:r>
            <a:br/>
            <a:r>
              <a:t>• Shift control (On/Off Shift)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371600"/>
            <a:ext cx="2029968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3B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5503" y="1554480"/>
            <a:ext cx="184708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71B52"/>
                </a:solidFill>
              </a:defRPr>
            </a:pPr>
            <a:r>
              <a:t>Module 3: Delivery Fleet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Proximity dispatch algorithm</a:t>
            </a:r>
            <a:br/>
            <a:r>
              <a:t>• GPS telemetry &amp; speed tracker</a:t>
            </a:r>
            <a:br/>
            <a:r>
              <a:t>• Doorstep delivery OTP/QR</a:t>
            </a:r>
            <a:br/>
            <a:r>
              <a:t>• Dynamic distance payout rates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371600"/>
            <a:ext cx="2029968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51775" y="1554480"/>
            <a:ext cx="184708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71B52"/>
                </a:solidFill>
              </a:defRPr>
            </a:pPr>
            <a:r>
              <a:t>Module 4: Cloud Printing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Multi-page PDF/Doc upload</a:t>
            </a:r>
            <a:br/>
            <a:r>
              <a:t>• B&amp;W vs Color cost estimator</a:t>
            </a:r>
            <a:br/>
            <a:r>
              <a:t>• Binding &amp; paper selection</a:t>
            </a:r>
            <a:br/>
            <a:r>
              <a:t>• 15-minute doorstep dispatch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1371600"/>
            <a:ext cx="2029968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8" y="1554480"/>
            <a:ext cx="184708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71B52"/>
                </a:solidFill>
              </a:defRPr>
            </a:pPr>
            <a:r>
              <a:t>Module 5: Admin Engine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Dynamic Area Price Overrides</a:t>
            </a:r>
            <a:br/>
            <a:r>
              <a:t>• Customer &amp; Rider profile editor</a:t>
            </a:r>
            <a:br/>
            <a:r>
              <a:t>• Live fleet map &amp; shift control</a:t>
            </a:r>
            <a:br/>
            <a:r>
              <a:t>• Financial settlement &amp; audit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338CA"/>
                </a:solidFill>
              </a:defRPr>
            </a:pPr>
            <a:r>
              <a:t>MINI PROJECT REPORTING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71B52"/>
                </a:solidFill>
              </a:defRPr>
            </a:pPr>
            <a:r>
              <a:t>Module 1: Customer Web &amp; Mobile Portal</a:t>
            </a:r>
          </a:p>
        </p:txBody>
      </p:sp>
      <p:pic>
        <p:nvPicPr>
          <p:cNvPr id="5" name="Picture 4" descr="module1_custome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4617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71B52"/>
                </a:solidFill>
              </a:defRPr>
            </a:pPr>
            <a:r>
              <a:t>Module 1 Engineering Details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Tech Stack — </a:t>
            </a:r>
            <a:r>
              <a:rPr>
                <a:solidFill>
                  <a:srgbClr val="64748B"/>
                </a:solidFill>
              </a:rPr>
              <a:t>React 19, TypeScript, Lucide Icons, Geolocation API, Context API.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Dynamic Price Lookup — </a:t>
            </a:r>
            <a:r>
              <a:rPr>
                <a:solidFill>
                  <a:srgbClr val="64748B"/>
                </a:solidFill>
              </a:rPr>
              <a:t>Queries /api/v1/products/:id?areaId=... to get live localized pricing.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Multi-Variant Support — </a:t>
            </a:r>
            <a:r>
              <a:rPr>
                <a:solidFill>
                  <a:srgbClr val="64748B"/>
                </a:solidFill>
              </a:rPr>
              <a:t>Seamlessly toggles variants (250g, 500g, 1kg, 2kg) updating price &amp; MRP.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Coin Redemption — </a:t>
            </a:r>
            <a:r>
              <a:rPr>
                <a:solidFill>
                  <a:srgbClr val="64748B"/>
                </a:solidFill>
              </a:rPr>
              <a:t>Allows partial payment using earned shopping coins.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Zero-Flicker Telemetry — </a:t>
            </a:r>
            <a:r>
              <a:rPr>
                <a:solidFill>
                  <a:srgbClr val="64748B"/>
                </a:solidFill>
              </a:rPr>
              <a:t>WebSocket updates rider location smoothly on live tracking modal.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338CA"/>
                </a:solidFill>
              </a:defRPr>
            </a:pPr>
            <a:r>
              <a:t>MINI PROJECT REPORTING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71B52"/>
                </a:solidFill>
              </a:defRPr>
            </a:pPr>
            <a:r>
              <a:t>Module 2: Dark Store Operations &amp; Fulfillment</a:t>
            </a:r>
          </a:p>
        </p:txBody>
      </p:sp>
      <p:pic>
        <p:nvPicPr>
          <p:cNvPr id="5" name="Picture 4" descr="module2_darkstor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4754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71B52"/>
                </a:solidFill>
              </a:defRPr>
            </a:pPr>
            <a:r>
              <a:t>Module 2 Engineering Details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Target SLA — </a:t>
            </a:r>
            <a:r>
              <a:rPr>
                <a:solidFill>
                  <a:srgbClr val="64748B"/>
                </a:solidFill>
              </a:rPr>
              <a:t>Sub-3-minute pick and pack time per customer order.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Shelf Bin Tagging — </a:t>
            </a:r>
            <a:r>
              <a:rPr>
                <a:solidFill>
                  <a:srgbClr val="64748B"/>
                </a:solidFill>
              </a:rPr>
              <a:t>Items indexed with shelf locations (e.g. A1-R1) reducing picker search time by 60%.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Packing Verification — </a:t>
            </a:r>
            <a:r>
              <a:rPr>
                <a:solidFill>
                  <a:srgbClr val="64748B"/>
                </a:solidFill>
              </a:rPr>
              <a:t>Barcodes scanned and sealed inside tamper-proof eco bags.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Atomic Decrement — </a:t>
            </a:r>
            <a:r>
              <a:rPr>
                <a:solidFill>
                  <a:srgbClr val="64748B"/>
                </a:solidFill>
              </a:rPr>
              <a:t>Stock decrements atomically inside MongoDB transaction session.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Shift Resiliency — </a:t>
            </a:r>
            <a:r>
              <a:rPr>
                <a:solidFill>
                  <a:srgbClr val="64748B"/>
                </a:solidFill>
              </a:rPr>
              <a:t>Manager shifts toggled between On/Off Duty; auto-reroutes orders if closed.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338CA"/>
                </a:solidFill>
              </a:defRPr>
            </a:pPr>
            <a:r>
              <a:t>MINI PROJECT REPORTING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71B52"/>
                </a:solidFill>
              </a:defRPr>
            </a:pPr>
            <a:r>
              <a:t>Module 3: Delivery Partner &amp; Fleet Dispatch</a:t>
            </a:r>
          </a:p>
        </p:txBody>
      </p:sp>
      <p:pic>
        <p:nvPicPr>
          <p:cNvPr id="5" name="Picture 4" descr="module3_rider_flee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460819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71B52"/>
                </a:solidFill>
              </a:defRPr>
            </a:pPr>
            <a:r>
              <a:t>Module 3 Engineering Details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Haversine Dispatch — </a:t>
            </a:r>
            <a:r>
              <a:rPr>
                <a:solidFill>
                  <a:srgbClr val="64748B"/>
                </a:solidFill>
              </a:rPr>
              <a:t>Dispatches to nearest idle rider within 1.5 km of dark store.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Realtime Telemetry — </a:t>
            </a:r>
            <a:r>
              <a:rPr>
                <a:solidFill>
                  <a:srgbClr val="64748B"/>
                </a:solidFill>
              </a:rPr>
              <a:t>GPS pings transmitted every 5 seconds over Socket.IO room channel.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Dynamic Tariffs — </a:t>
            </a:r>
            <a:r>
              <a:rPr>
                <a:solidFill>
                  <a:srgbClr val="64748B"/>
                </a:solidFill>
              </a:rPr>
              <a:t>Payout = Base ₹35 + (₹12/km × Distance) × Surge Multiplier.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Proof of Delivery — </a:t>
            </a:r>
            <a:r>
              <a:rPr>
                <a:solidFill>
                  <a:srgbClr val="64748B"/>
                </a:solidFill>
              </a:rPr>
              <a:t>Doorstep OTP verification unlocks payout and completes order cycle.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Rider Wallet — </a:t>
            </a:r>
            <a:r>
              <a:rPr>
                <a:solidFill>
                  <a:srgbClr val="64748B"/>
                </a:solidFill>
              </a:rPr>
              <a:t>Earnings and tips instantly credited to in-app withdrawal wallet.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338CA"/>
                </a:solidFill>
              </a:defRPr>
            </a:pPr>
            <a:r>
              <a:t>MINI PROJECT REPORTING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71B52"/>
                </a:solidFill>
              </a:defRPr>
            </a:pPr>
            <a:r>
              <a:t>Module 4: Cloud Printing &amp; On-Demand Document Pipeline</a:t>
            </a:r>
          </a:p>
        </p:txBody>
      </p:sp>
      <p:pic>
        <p:nvPicPr>
          <p:cNvPr id="5" name="Picture 4" descr="module4_cloud_printin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46748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71B52"/>
                </a:solidFill>
              </a:defRPr>
            </a:pPr>
            <a:r>
              <a:t>Module 4 Engineering Details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File Ingestion — </a:t>
            </a:r>
            <a:r>
              <a:rPr>
                <a:solidFill>
                  <a:srgbClr val="64748B"/>
                </a:solidFill>
              </a:rPr>
              <a:t>Uploads PDF, DOCX, and high-res images via Cloudinary encrypted storage.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Auto Page Counting — </a:t>
            </a:r>
            <a:r>
              <a:rPr>
                <a:solidFill>
                  <a:srgbClr val="64748B"/>
                </a:solidFill>
              </a:rPr>
              <a:t>Backend calculates total page count instantly upon file upload.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Custom Print Specs — </a:t>
            </a:r>
            <a:r>
              <a:rPr>
                <a:solidFill>
                  <a:srgbClr val="64748B"/>
                </a:solidFill>
              </a:rPr>
              <a:t>Black &amp; White (₹2), Color (₹10), Double-sided discount, Spiral binding (₹35).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Dark Store Printing — </a:t>
            </a:r>
            <a:r>
              <a:rPr>
                <a:solidFill>
                  <a:srgbClr val="64748B"/>
                </a:solidFill>
              </a:rPr>
              <a:t>Automated spooling to high-speed laser printers stationed inside dark stores.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Security &amp; Privacy — </a:t>
            </a:r>
            <a:r>
              <a:rPr>
                <a:solidFill>
                  <a:srgbClr val="64748B"/>
                </a:solidFill>
              </a:rPr>
              <a:t>Temporary signed URLs; files auto-purged from cloud after 24 hours.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338CA"/>
                </a:solidFill>
              </a:defRPr>
            </a:pPr>
            <a:r>
              <a:t>MINI PROJECT REPORTING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71B52"/>
                </a:solidFill>
              </a:defRPr>
            </a:pPr>
            <a:r>
              <a:t>Module 5: Admin Control Portal &amp; Pricing Engine</a:t>
            </a:r>
          </a:p>
        </p:txBody>
      </p:sp>
      <p:pic>
        <p:nvPicPr>
          <p:cNvPr id="5" name="Picture 4" descr="module5_admin_pricing_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472508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71B52"/>
                </a:solidFill>
              </a:defRPr>
            </a:pPr>
            <a:r>
              <a:t>Module 5 Engineering Details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Area Pricing Matrix — </a:t>
            </a:r>
            <a:r>
              <a:rPr>
                <a:solidFill>
                  <a:srgbClr val="64748B"/>
                </a:solidFill>
              </a:rPr>
              <a:t>Admin sets customized pricing for specific areas without altering global catalog.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Compound Index — </a:t>
            </a:r>
            <a:r>
              <a:rPr>
                <a:solidFill>
                  <a:srgbClr val="64748B"/>
                </a:solidFill>
              </a:rPr>
              <a:t>Indexed by { variantId, areaId } for O(1) instantaneous resolution.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Customer Management — </a:t>
            </a:r>
            <a:r>
              <a:rPr>
                <a:solidFill>
                  <a:srgbClr val="64748B"/>
                </a:solidFill>
              </a:rPr>
              <a:t>Directly edit customer name, phone, email, address, and block/unblock status.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Rider Management — </a:t>
            </a:r>
            <a:r>
              <a:rPr>
                <a:solidFill>
                  <a:srgbClr val="64748B"/>
                </a:solidFill>
              </a:rPr>
              <a:t>Edit full details, vehicle type/no, hub assignment, duty shift, and status.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Financial Ledger — </a:t>
            </a:r>
            <a:r>
              <a:rPr>
                <a:solidFill>
                  <a:srgbClr val="64748B"/>
                </a:solidFill>
              </a:rPr>
              <a:t>Audit logs and wallet reconciliations for stores and riders.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338CA"/>
                </a:solidFill>
              </a:defRPr>
            </a:pPr>
            <a:r>
              <a:t>MINI PROJECT REPORTING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71B52"/>
                </a:solidFill>
              </a:defRPr>
            </a:pPr>
            <a:r>
              <a:t>Database Architecture &amp; Entity Relationship (ER) Model</a:t>
            </a:r>
          </a:p>
        </p:txBody>
      </p:sp>
      <p:pic>
        <p:nvPicPr>
          <p:cNvPr id="5" name="Picture 4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44132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71B52"/>
                </a:solidFill>
              </a:defRPr>
            </a:pPr>
            <a:r>
              <a:t>ER Model Highlights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NoSQL Schema Design — </a:t>
            </a:r>
            <a:r>
              <a:rPr>
                <a:solidFill>
                  <a:srgbClr val="64748B"/>
                </a:solidFill>
              </a:rPr>
              <a:t>Leverages MongoDB Atlas for high write throughput and dynamic variant attributes.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1 : N Product Variants — </a:t>
            </a:r>
            <a:r>
              <a:rPr>
                <a:solidFill>
                  <a:srgbClr val="64748B"/>
                </a:solidFill>
              </a:rPr>
              <a:t>One product has multiple weight variants (250g, 500g, 1kg, 2kg).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Variant : Area Pricing — </a:t>
            </a:r>
            <a:r>
              <a:rPr>
                <a:solidFill>
                  <a:srgbClr val="64748B"/>
                </a:solidFill>
              </a:rPr>
              <a:t>Area pricing overrides link variant ID to area ID for localized tariffs.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Geospatial Indexing — </a:t>
            </a:r>
            <a:r>
              <a:rPr>
                <a:solidFill>
                  <a:srgbClr val="64748B"/>
                </a:solidFill>
              </a:rPr>
              <a:t>Stores and Delivery Partners indexed with 2dsphere GeoJSON points.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Referential Integrity — </a:t>
            </a:r>
            <a:r>
              <a:rPr>
                <a:solidFill>
                  <a:srgbClr val="64748B"/>
                </a:solidFill>
              </a:rPr>
              <a:t>ObjectIds with Mongoose population for orders, items, and users.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338CA"/>
                </a:solidFill>
              </a:defRPr>
            </a:pPr>
            <a:r>
              <a:t>MINI PROJECT REPORTING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71B52"/>
                </a:solidFill>
              </a:defRPr>
            </a:pPr>
            <a:r>
              <a:t>Data Dictionary: Users &amp; Stores Collections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71B52"/>
                </a:solidFill>
              </a:defRPr>
            </a:pPr>
            <a:r>
              <a:t>Collection 1: users (Customers &amp; Staff)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920240"/>
          <a:ext cx="48463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1005840"/>
                <a:gridCol w="1920240"/>
              </a:tblGrid>
              <a:tr h="65532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_id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ObjectId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PK, Required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 identifier of the user document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Required, Indexed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Customer / partner full legal name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phone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Unique, Required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E.164 mobile number (+91...)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Enum (4 roles)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CUSTOMER, STORE_STAFF, RIDER, ADMIN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walletBalance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Number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Default: 0, Min: 0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In-app balance for fast refunds &amp; pay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71B52"/>
                </a:solidFill>
              </a:defRPr>
            </a:pPr>
            <a:r>
              <a:t>Collection 2: stores (Dark Store Hubs)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920240"/>
          <a:ext cx="48463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1005840"/>
                <a:gridCol w="1920240"/>
              </a:tblGrid>
              <a:tr h="65532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_id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ObjectId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PK, Required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 identifier of the store hub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code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Unique, Indexed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Hub operational code (e.g. STO-01)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Required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Dark store name (e.g. Tragad Hub)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geoCoordinates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Object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2dsphere Point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[longitude, latitude] for geospatial lookup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isOnShift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Boolean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Default: true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Active shift status for order fulfillment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338CA"/>
                </a:solidFill>
              </a:defRPr>
            </a:pPr>
            <a:r>
              <a:t>MINI PROJECT REPORTING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71B52"/>
                </a:solidFill>
              </a:defRPr>
            </a:pPr>
            <a:r>
              <a:t>Data Dictionary: Products &amp; Product Variants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71B52"/>
                </a:solidFill>
              </a:defRPr>
            </a:pPr>
            <a:r>
              <a:t>Collection 3: products (Catalog Master)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920240"/>
          <a:ext cx="48463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1005840"/>
                <a:gridCol w="1920240"/>
              </a:tblGrid>
              <a:tr h="65532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_id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ObjectId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PK, Required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 master product identifier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Required, Indexed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Product display name (e.g. Fresh Tomato)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slug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Unique, Indexed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URL slug for web SEO / routing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categoryId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ObjectId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FK -&gt; categories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Product categorization link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basePrice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Number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Min: 0, Required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Global default fallback price (₹11)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71B52"/>
                </a:solidFill>
              </a:defRPr>
            </a:pPr>
            <a:r>
              <a:t>Collection 4: product_variants (Weight Variants)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920240"/>
          <a:ext cx="48463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1005840"/>
                <a:gridCol w="1920240"/>
              </a:tblGrid>
              <a:tr h="65532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_id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ObjectId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PK, Required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 variant identifier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productId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ObjectId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FK -&gt; products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Parent product identifier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label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Required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Packaging quantity (250 g, 500 g, 1 kg)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Number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Required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base selling price for variant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mrp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Number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Required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Maximum retail price for discount calculation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338CA"/>
                </a:solidFill>
              </a:defRPr>
            </a:pPr>
            <a:r>
              <a:t>MINI PROJECT REPORTING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71B52"/>
                </a:solidFill>
              </a:defRPr>
            </a:pPr>
            <a:r>
              <a:t>Data Dictionary: Dynamic Area Pricing Overrides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71323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6766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71B52"/>
                </a:solidFill>
              </a:defRPr>
            </a:pPr>
            <a:r>
              <a:t>Collection 5: area_pricing (Area Specific Price Overrides)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920240"/>
          <a:ext cx="67665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05840"/>
                <a:gridCol w="1463040"/>
                <a:gridCol w="2926080"/>
              </a:tblGrid>
              <a:tr h="561702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_id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ObjectId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PK, Required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 area override record ID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variantId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ObjectId / Str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Indexed, Compound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Specific variant ID being overridden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areaId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ObjectId / Str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Indexed, Compound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Target geographical delivery area ID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Number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Required, Min: 0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Localized selling price (e.g. Tomato 250g = ₹7)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mrp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Number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Optional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Localized MRP for discount calculation (₹15)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isAvailable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Boolean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Default: true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Availability flag for this specific area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71B52"/>
                </a:solidFill>
              </a:defRPr>
            </a:pPr>
            <a:r>
              <a:t>Indexing &amp; Query Optimization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Compound Unique Index — </a:t>
            </a:r>
            <a:r>
              <a:rPr>
                <a:solidFill>
                  <a:srgbClr val="64748B"/>
                </a:solidFill>
              </a:rPr>
              <a:t>{ variantId: 1, areaId: 1 } ensures instantaneous query response under 2ms.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Type Resilience — </a:t>
            </a:r>
            <a:r>
              <a:rPr>
                <a:solidFill>
                  <a:srgbClr val="64748B"/>
                </a:solidFill>
              </a:rPr>
              <a:t>Matches both MongoDB BSON ObjectId and hex string representations.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Business Advantage — </a:t>
            </a:r>
            <a:r>
              <a:rPr>
                <a:solidFill>
                  <a:srgbClr val="64748B"/>
                </a:solidFill>
              </a:rPr>
              <a:t>Enables hyper-local price discrimination based on area purchasing power and supply chain costs.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Zero Data Redundancy — </a:t>
            </a:r>
            <a:r>
              <a:rPr>
                <a:solidFill>
                  <a:srgbClr val="64748B"/>
                </a:solidFill>
              </a:rPr>
              <a:t>Only overrides are stored; products without overrides fall back to base catalog.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338CA"/>
                </a:solidFill>
              </a:defRPr>
            </a:pPr>
            <a:r>
              <a:t>MINI PROJECT REPORTING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71B52"/>
                </a:solidFill>
              </a:defRPr>
            </a:pPr>
            <a:r>
              <a:t>Data Dictionary: Orders &amp; Cloud Print Orders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71B52"/>
                </a:solidFill>
              </a:defRPr>
            </a:pPr>
            <a:r>
              <a:t>Collection 6: orders (Grocery &amp; Essentials)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920240"/>
          <a:ext cx="48463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1005840"/>
                <a:gridCol w="1920240"/>
              </a:tblGrid>
              <a:tr h="65532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_id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ObjectId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PK, Required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 order identifier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orderNumber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Unique, Indexed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Human readable tracking ID (e.g. WUP-8492)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userId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ObjectId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FK -&gt; users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Customer placing the order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storeId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ObjectId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FK -&gt; stores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Assigned fulfilling dark store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Enum (6 states)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PLACED, PACKING, PACKED, DISPATCHED, DELIVERED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71B52"/>
                </a:solidFill>
              </a:defRPr>
            </a:pPr>
            <a:r>
              <a:t>Collection 7: print_orders (Cloud Printing)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920240"/>
          <a:ext cx="48463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1005840"/>
                <a:gridCol w="1920240"/>
              </a:tblGrid>
              <a:tr h="65532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_id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ObjectId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PK, Required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 print order identifier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fileUrl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Required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Encrypted Cloudinary document link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pageCount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Number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Min: 1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Total detected pages to print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colorType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B&amp;W | Color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Monochrome (₹2) or Full Color (₹10)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bindingType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None | Spiral | Hard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Post-processing binding selection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338CA"/>
                </a:solidFill>
              </a:defRPr>
            </a:pPr>
            <a:r>
              <a:t>MINI PROJECT REPORTING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71B52"/>
                </a:solidFill>
              </a:defRPr>
            </a:pPr>
            <a:r>
              <a:t>Data Dictionary: Delivery Partners &amp; Payout Rates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71B52"/>
                </a:solidFill>
              </a:defRPr>
            </a:pPr>
            <a:r>
              <a:t>Collection 8: delivery_partners (Riders)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920240"/>
          <a:ext cx="48463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1005840"/>
                <a:gridCol w="1920240"/>
              </a:tblGrid>
              <a:tr h="65532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_id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ObjectId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PK, Required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 delivery partner identifier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partnerCode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Unique, Indexed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Rider badge code (e.g. RDR-6190)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vehicleType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BIKE | EV | SCOOTER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Mode of express transportation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isOnline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Boolean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Indexed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Real-time duty shift status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rating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Number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Range: 1.0 - 5.0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Rolling average customer satisfaction rating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71B52"/>
                </a:solidFill>
              </a:defRPr>
            </a:pPr>
            <a:r>
              <a:t>Collection 9: rider_payout_rates (Tariffs)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920240"/>
          <a:ext cx="48463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1005840"/>
                <a:gridCol w="1920240"/>
              </a:tblGrid>
              <a:tr h="65532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marL="109728" marR="109728" marT="73152" marB="73152">
                    <a:solidFill>
                      <a:srgbClr val="071B52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_id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ObjectId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PK, Required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 tariff structure identifier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scope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GLOBAL | CITY | AREA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Granularity level of payout tariff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basePay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Number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Min: 0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Guaranteed compensation per pickup (₹35)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perKmRate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Number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Min: 0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Distance compensation per kilometer (₹12)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surgeMultiplier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Number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Default: 1.0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Weather/traffic demand pricing multiplier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338CA"/>
                </a:solidFill>
              </a:defRPr>
            </a:pPr>
            <a:r>
              <a:t>MINI PROJECT REPORTING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71B52"/>
                </a:solidFill>
              </a:defRPr>
            </a:pPr>
            <a:r>
              <a:t>Core Business Logic &amp; Algorithms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71B52"/>
                </a:solidFill>
              </a:defRPr>
            </a:pPr>
            <a:r>
              <a:t>Algorithm 1: Area Pricing Fallback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Step 1: Geolocation — </a:t>
            </a:r>
            <a:r>
              <a:rPr>
                <a:solidFill>
                  <a:srgbClr val="64748B"/>
                </a:solidFill>
              </a:rPr>
              <a:t>Extract customer coordinates; resolve target Area ID and Store ID.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Step 2: Area Query — </a:t>
            </a:r>
            <a:r>
              <a:rPr>
                <a:solidFill>
                  <a:srgbClr val="64748B"/>
                </a:solidFill>
              </a:rPr>
              <a:t>Lookup area_pricing for matching { variantId, areaId }.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Step 3: Override Decision — </a:t>
            </a:r>
            <a:r>
              <a:rPr>
                <a:solidFill>
                  <a:srgbClr val="64748B"/>
                </a:solidFill>
              </a:rPr>
              <a:t>If found -&gt; display localized price (₹7) &amp; calculate discount %.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Step 4: Default Fallback — </a:t>
            </a:r>
            <a:r>
              <a:rPr>
                <a:solidFill>
                  <a:srgbClr val="64748B"/>
                </a:solidFill>
              </a:rPr>
              <a:t>If not found -&gt; display catalog default price (₹11).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338CA"/>
                </a:solidFill>
              </a:defRPr>
            </a:pPr>
            <a:r>
              <a:t>Algorithm 2: Dynamic Payout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Step 1: Distance Resolution — </a:t>
            </a:r>
            <a:r>
              <a:rPr>
                <a:solidFill>
                  <a:srgbClr val="64748B"/>
                </a:solidFill>
              </a:rPr>
              <a:t>Compute road distance D between store hub and customer doorstep.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Step 2: Rate Hierarchy — </a:t>
            </a:r>
            <a:r>
              <a:rPr>
                <a:solidFill>
                  <a:srgbClr val="64748B"/>
                </a:solidFill>
              </a:rPr>
              <a:t>Fetch tariff with precedence: Area Rate -&gt; City Rate -&gt; Global Rate.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Step 3: Formula Execution — </a:t>
            </a:r>
            <a:r>
              <a:rPr>
                <a:solidFill>
                  <a:srgbClr val="64748B"/>
                </a:solidFill>
              </a:rPr>
              <a:t>Payout = (BasePay + D × PerKmRate) × SurgeMultiplier.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Step 4: Wallet Credit — </a:t>
            </a:r>
            <a:r>
              <a:rPr>
                <a:solidFill>
                  <a:srgbClr val="64748B"/>
                </a:solidFill>
              </a:rPr>
              <a:t>Atomically credit rider wallet upon verified delivery OTP.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Algorithm 3: Proximity Dispatch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Step 1: Geo-Filtering — </a:t>
            </a:r>
            <a:r>
              <a:rPr>
                <a:solidFill>
                  <a:srgbClr val="64748B"/>
                </a:solidFill>
              </a:rPr>
              <a:t>MongoDB $nearSphere query selects online riders within 1.5 km.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Step 2: Load Balancing — </a:t>
            </a:r>
            <a:r>
              <a:rPr>
                <a:solidFill>
                  <a:srgbClr val="64748B"/>
                </a:solidFill>
              </a:rPr>
              <a:t>Riders scored by rating, current queue, and proximity.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Step 3: Timeout Ping — </a:t>
            </a:r>
            <a:r>
              <a:rPr>
                <a:solidFill>
                  <a:srgbClr val="64748B"/>
                </a:solidFill>
              </a:rPr>
              <a:t>Dispatches ping with 45-second acceptance countdown.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71B52"/>
                </a:solidFill>
              </a:rPr>
              <a:t>• Step 4: Auto-Escalation — </a:t>
            </a:r>
            <a:r>
              <a:rPr>
                <a:solidFill>
                  <a:srgbClr val="64748B"/>
                </a:solidFill>
              </a:rPr>
              <a:t>If rejected or expired, immediately cascades to next best candidate.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338CA"/>
                </a:solidFill>
              </a:defRPr>
            </a:pPr>
            <a:r>
              <a:t>MINI PROJECT REPORTING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71B52"/>
                </a:solidFill>
              </a:defRPr>
            </a:pPr>
            <a:r>
              <a:t>Security Architecture &amp; Transaction Integrity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3200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71B52"/>
                </a:solidFill>
              </a:defRPr>
            </a:pPr>
            <a:r>
              <a:t>Stateless JWT Authentication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Tokens signed using HS256 secret key; refresh token rotation prevents replay attacks. Strict 15-minute access token lifespan.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1371600"/>
            <a:ext cx="34747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9704" y="1508760"/>
            <a:ext cx="3200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71B52"/>
                </a:solidFill>
              </a:defRPr>
            </a:pPr>
            <a:r>
              <a:t>Role-Based Access Control (RBAC)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NestJS guards enforce strict permissions: CUSTOMER, STORE_STAFF, RIDER, and ADMIN roles across all API controller routes.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73568" y="1371600"/>
            <a:ext cx="34747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0728" y="1508760"/>
            <a:ext cx="3200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71B52"/>
                </a:solidFill>
              </a:defRPr>
            </a:pPr>
            <a:r>
              <a:t>Geofencing Validation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Prevents unauthorized orders placed outside delivery perimeter; protects 10-minute delivery promise and logistics safety.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94760"/>
            <a:ext cx="34747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31920"/>
            <a:ext cx="3200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71B52"/>
                </a:solidFill>
              </a:defRPr>
            </a:pPr>
            <a:r>
              <a:t>Atomic Database Transactions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Stock decrement, payment confirmation, and loyalty coin deductions execute inside MongoDB session transactions to prevent race conditions.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3794760"/>
            <a:ext cx="34747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3B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4" y="3931920"/>
            <a:ext cx="3200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71B52"/>
                </a:solidFill>
              </a:defRPr>
            </a:pPr>
            <a:r>
              <a:t>Input Validation &amp; Sanitization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DTO validation via class-validator and Zod prevents NoSQL injection, XSS attacks, and malformed payload exploits.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3794760"/>
            <a:ext cx="34747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0728" y="3931920"/>
            <a:ext cx="3200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71B52"/>
                </a:solidFill>
              </a:defRPr>
            </a:pPr>
            <a:r>
              <a:t>Document Privacy Shredder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Uploaded print documents are protected by encrypted signed URLs; auto-deleted from Cloudinary within 24 hours of fulfillment.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338CA"/>
                </a:solidFill>
              </a:defRPr>
            </a:pPr>
            <a:r>
              <a:t>MINI PROJECT REPORTING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71B52"/>
                </a:solidFill>
              </a:defRPr>
            </a:pPr>
            <a:r>
              <a:t>Technology Stack &amp; Framework Mapping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71B52"/>
                </a:solidFill>
              </a:defRPr>
            </a:pPr>
            <a:r>
              <a:t>Frontend Web &amp; Admin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71B52"/>
                </a:solidFill>
              </a:rPr>
              <a:t>• React 19 — </a:t>
            </a:r>
            <a:r>
              <a:rPr>
                <a:solidFill>
                  <a:srgbClr val="0F172A"/>
                </a:solidFill>
              </a:rPr>
              <a:t>Modern component lifecycle, Hooks &amp; concurrent rendering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71B52"/>
                </a:solidFill>
              </a:rPr>
              <a:t>• TypeScript — </a:t>
            </a:r>
            <a:r>
              <a:rPr>
                <a:solidFill>
                  <a:srgbClr val="0F172A"/>
                </a:solidFill>
              </a:rPr>
              <a:t>Strict type-safety across models, props &amp; API services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71B52"/>
                </a:solidFill>
              </a:rPr>
              <a:t>• Vite — </a:t>
            </a:r>
            <a:r>
              <a:rPr>
                <a:solidFill>
                  <a:srgbClr val="0F172A"/>
                </a:solidFill>
              </a:rPr>
              <a:t>Ultra-fast HMR and optimized production bundle builds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71B52"/>
                </a:solidFill>
              </a:rPr>
              <a:t>• Lucide React — </a:t>
            </a:r>
            <a:r>
              <a:rPr>
                <a:solidFill>
                  <a:srgbClr val="0F172A"/>
                </a:solidFill>
              </a:rPr>
              <a:t>Lightweight vector icon set with consistent design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9704" y="155448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71B52"/>
                </a:solidFill>
              </a:defRPr>
            </a:pPr>
            <a:r>
              <a:t>Mobile Applications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71B52"/>
                </a:solidFill>
              </a:rPr>
              <a:t>• React Native — </a:t>
            </a:r>
            <a:r>
              <a:rPr>
                <a:solidFill>
                  <a:srgbClr val="0F172A"/>
                </a:solidFill>
              </a:rPr>
              <a:t>Native performance on iOS and Android devices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71B52"/>
                </a:solidFill>
              </a:rPr>
              <a:t>• Expo Framework — </a:t>
            </a:r>
            <a:r>
              <a:rPr>
                <a:solidFill>
                  <a:srgbClr val="0F172A"/>
                </a:solidFill>
              </a:rPr>
              <a:t>Fast iteration, native sensor access &amp; unified builds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71B52"/>
                </a:solidFill>
              </a:rPr>
              <a:t>• React Navigation — </a:t>
            </a:r>
            <a:r>
              <a:rPr>
                <a:solidFill>
                  <a:srgbClr val="0F172A"/>
                </a:solidFill>
              </a:rPr>
              <a:t>Stack and tab navigation with native transition animations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71B52"/>
                </a:solidFill>
              </a:rPr>
              <a:t>• Expo Location — </a:t>
            </a:r>
            <a:r>
              <a:rPr>
                <a:solidFill>
                  <a:srgbClr val="0F172A"/>
                </a:solidFill>
              </a:rPr>
              <a:t>Background and foreground GPS coordinate tracking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73568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0728" y="155448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71B52"/>
                </a:solidFill>
              </a:defRPr>
            </a:pPr>
            <a:r>
              <a:t>Backend &amp; Database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71B52"/>
                </a:solidFill>
              </a:rPr>
              <a:t>• NestJS &amp; Node.js — </a:t>
            </a:r>
            <a:r>
              <a:rPr>
                <a:solidFill>
                  <a:srgbClr val="0F172A"/>
                </a:solidFill>
              </a:rPr>
              <a:t>Enterprise modular architecture with dependency injection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71B52"/>
                </a:solidFill>
              </a:rPr>
              <a:t>• MongoDB Atlas — </a:t>
            </a:r>
            <a:r>
              <a:rPr>
                <a:solidFill>
                  <a:srgbClr val="0F172A"/>
                </a:solidFill>
              </a:rPr>
              <a:t>Distributed NoSQL database with geospatial indexing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71B52"/>
                </a:solidFill>
              </a:rPr>
              <a:t>• Socket.IO — </a:t>
            </a:r>
            <a:r>
              <a:rPr>
                <a:solidFill>
                  <a:srgbClr val="0F172A"/>
                </a:solidFill>
              </a:rPr>
              <a:t>Low-latency bidirectional WebSocket communication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71B52"/>
                </a:solidFill>
              </a:rPr>
              <a:t>• Cloudinary CDN — </a:t>
            </a:r>
            <a:r>
              <a:rPr>
                <a:solidFill>
                  <a:srgbClr val="0F172A"/>
                </a:solidFill>
              </a:rPr>
              <a:t>Automated asset optimization and secure document storage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338CA"/>
                </a:solidFill>
              </a:defRPr>
            </a:pPr>
            <a:r>
              <a:t>MINI PROJECT REPORTING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71B52"/>
                </a:solidFill>
              </a:defRPr>
            </a:pPr>
            <a:r>
              <a:t>Work Completed vs Reporting 2 Milestones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41148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71B52"/>
                </a:solidFill>
              </a:defRPr>
            </a:pPr>
            <a:r>
              <a:t>Milestone 1: SRS &amp; System Architecture Formulation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Complete multi-tier architectural specification and API contracts.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1691640"/>
            <a:ext cx="777240" cy="38404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100%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2578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41148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71B52"/>
                </a:solidFill>
              </a:defRPr>
            </a:pPr>
            <a:r>
              <a:t>Milestone 2: Database Schema &amp; Entity Normalization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Designed and deployed 9 core collections on MongoDB Atlas cluster.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0" y="1691640"/>
            <a:ext cx="777240" cy="38404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100%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78608"/>
            <a:ext cx="52578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70048"/>
            <a:ext cx="41148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71B52"/>
                </a:solidFill>
              </a:defRPr>
            </a:pPr>
            <a:r>
              <a:t>Milestone 3: Customer Web Catalog &amp; Geofencing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Live catalog with variant switching and automatic area resolution.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2898648"/>
            <a:ext cx="777240" cy="38404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100%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578608"/>
            <a:ext cx="52578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670048"/>
            <a:ext cx="41148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71B52"/>
                </a:solidFill>
              </a:defRPr>
            </a:pPr>
            <a:r>
              <a:t>Milestone 4: Dynamic Area Pricing Override Engine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Admin override portal linked to MongoDB compound indices.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0" y="2898648"/>
            <a:ext cx="777240" cy="38404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100%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85616"/>
            <a:ext cx="52578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877056"/>
            <a:ext cx="41148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71B52"/>
                </a:solidFill>
              </a:defRPr>
            </a:pPr>
            <a:r>
              <a:t>Milestone 5: Dark Store Picking, Packing &amp; Shift State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Digital pick-lists, bin locations (A1-R1), and shift toggles.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4105656"/>
            <a:ext cx="777240" cy="38404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100%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785616"/>
            <a:ext cx="52578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877056"/>
            <a:ext cx="41148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71B52"/>
                </a:solidFill>
              </a:defRPr>
            </a:pPr>
            <a:r>
              <a:t>Milestone 6: Rider Fleet Telemetry &amp; Order Dispatch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Real-time GPS tracking and dynamic distance payout tariffs.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0" y="4105656"/>
            <a:ext cx="777240" cy="38404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100%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992624"/>
            <a:ext cx="52578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084064"/>
            <a:ext cx="41148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71B52"/>
                </a:solidFill>
              </a:defRPr>
            </a:pPr>
            <a:r>
              <a:t>Milestone 7: Cloud Printing &amp; Document Fulfillment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Encrypted uploads, auto page count, and 15-minute print dispatch.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74920" y="5312664"/>
            <a:ext cx="777240" cy="38404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100%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992624"/>
            <a:ext cx="52578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5084064"/>
            <a:ext cx="41148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71B52"/>
                </a:solidFill>
              </a:defRPr>
            </a:pPr>
            <a:r>
              <a:t>Milestone 8: Central Admin Portal &amp; User Management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Customer and rider editing, pricing controls, and revenue audit.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15600" y="5312664"/>
            <a:ext cx="777240" cy="38404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100%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338CA"/>
                </a:solidFill>
              </a:defRPr>
            </a:pPr>
            <a:r>
              <a:t>MINI PROJECT REPORTING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71B52"/>
                </a:solidFill>
              </a:defRPr>
            </a:pPr>
            <a:r>
              <a:t>Roadmap to Reporting 3 &amp; Final Submission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071B52"/>
                </a:solidFill>
              </a:rPr>
              <a:t>Phase 1: Payment Gateway Webhooks — </a:t>
            </a:r>
            <a:r>
              <a:rPr sz="1100">
                <a:solidFill>
                  <a:srgbClr val="0F172A"/>
                </a:solidFill>
              </a:rPr>
              <a:t>Production integration with Razorpay &amp; Cashfree; automated refund processing on order cancellations.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10728655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4144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071B52"/>
                </a:solidFill>
              </a:rPr>
              <a:t>Phase 2: ML Demand Forecasting — </a:t>
            </a:r>
            <a:r>
              <a:rPr sz="1100">
                <a:solidFill>
                  <a:srgbClr val="0F172A"/>
                </a:solidFill>
              </a:rPr>
              <a:t>Predictive demand model for dark store stock replenishment to prevent stockouts of perishable items.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10728655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0156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071B52"/>
                </a:solidFill>
              </a:rPr>
              <a:t>Phase 3: Multi-Order Rider Batching — </a:t>
            </a:r>
            <a:r>
              <a:rPr sz="1100">
                <a:solidFill>
                  <a:srgbClr val="0F172A"/>
                </a:solidFill>
              </a:rPr>
              <a:t>Algorithmic routing to bundle multiple orders headed in the same delivery corridor.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51960"/>
            <a:ext cx="10728655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3B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6168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071B52"/>
                </a:solidFill>
              </a:rPr>
              <a:t>Phase 4: Concurrency &amp; Stress Testing — </a:t>
            </a:r>
            <a:r>
              <a:rPr sz="1100">
                <a:solidFill>
                  <a:srgbClr val="0F172A"/>
                </a:solidFill>
              </a:rPr>
              <a:t>Load testing with Apache JMeter / Artillery to validate 1000+ simultaneous WebSocket orders.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12080"/>
            <a:ext cx="10728655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2180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071B52"/>
                </a:solidFill>
              </a:rPr>
              <a:t>Phase 5: Cloud Deployment &amp; Hardening — </a:t>
            </a:r>
            <a:r>
              <a:rPr sz="1100">
                <a:solidFill>
                  <a:srgbClr val="0F172A"/>
                </a:solidFill>
              </a:rPr>
              <a:t>Containerization using Docker; orchestration on Kubernetes/AWS ECS with CI/CD pipeline.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 b="1">
                <a:solidFill>
                  <a:srgbClr val="FF3B98"/>
                </a:solidFill>
              </a:defRPr>
            </a:pPr>
            <a:r>
              <a:t>REPORTING 2 PRESENTATION COMPLETE</a:t>
            </a:r>
          </a:p>
          <a:p>
            <a:pPr>
              <a:spcAft>
                <a:spcPts val="1600"/>
              </a:spcAft>
              <a:defRPr sz="3000" b="1">
                <a:solidFill>
                  <a:srgbClr val="FFFFFF"/>
                </a:solidFill>
              </a:defRPr>
            </a:pPr>
            <a:r>
              <a:t>Thank You! Ready for Demonstration &amp; Committee Q&amp;A</a:t>
            </a:r>
          </a:p>
          <a:p>
            <a:pPr>
              <a:spcAft>
                <a:spcPts val="3000"/>
              </a:spcAft>
              <a:defRPr sz="1500">
                <a:solidFill>
                  <a:srgbClr val="CBD5E1"/>
                </a:solidFill>
              </a:defRPr>
            </a:pPr>
            <a:r>
              <a:t>All project modules, real-time WebSockets, area pricing engines, and dark store portals are active.</a:t>
            </a:r>
            <a:br/>
            <a:r>
              <a:t>Switching to live application demonstration on screen.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WormUp — Modern Hyperlocal Quick Commerce &amp; Dark Store Infrastructure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